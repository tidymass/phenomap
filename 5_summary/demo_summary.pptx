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0"/>
  </p:notesMasterIdLst>
  <p:sldIdLst>
    <p:sldId id="345" r:id="rId2"/>
    <p:sldId id="344" r:id="rId3"/>
    <p:sldId id="350" r:id="rId4"/>
    <p:sldId id="296" r:id="rId5"/>
    <p:sldId id="347" r:id="rId6"/>
    <p:sldId id="348" r:id="rId7"/>
    <p:sldId id="349" r:id="rId8"/>
    <p:sldId id="3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004D"/>
    <a:srgbClr val="E01932"/>
    <a:srgbClr val="000000"/>
    <a:srgbClr val="ED7D31"/>
    <a:srgbClr val="C4FF5F"/>
    <a:srgbClr val="797979"/>
    <a:srgbClr val="FF0000"/>
    <a:srgbClr val="FFC000"/>
    <a:srgbClr val="EA1A00"/>
    <a:srgbClr val="D0AA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9"/>
    <p:restoredTop sz="96966"/>
  </p:normalViewPr>
  <p:slideViewPr>
    <p:cSldViewPr snapToGrid="0" snapToObjects="1">
      <p:cViewPr varScale="1">
        <p:scale>
          <a:sx n="157" d="100"/>
          <a:sy n="157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4B8B2-AE8E-F94E-9EA5-1767F192DA17}" type="datetimeFigureOut">
              <a:rPr lang="en-US" smtClean="0"/>
              <a:t>12/1/24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4902-BD49-F74E-A971-8B1A8F7747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78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C4902-BD49-F74E-A971-8B1A8F7747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8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presentation</a:t>
            </a:r>
            <a:r>
              <a:rPr lang="zh-CN" altLang="en-US" dirty="0"/>
              <a:t> </a:t>
            </a:r>
            <a:r>
              <a:rPr lang="en-US" altLang="zh-CN" dirty="0"/>
              <a:t>todays.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metID,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talk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am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working</a:t>
            </a:r>
            <a:r>
              <a:rPr lang="zh-CN" altLang="en-US" dirty="0"/>
              <a:t> </a:t>
            </a:r>
            <a:r>
              <a:rPr lang="en-US" altLang="zh-CN" dirty="0"/>
              <a:t>on.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started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C4902-BD49-F74E-A971-8B1A8F7747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61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6BF9-1FAD-A5EF-6606-7BA0D2806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63BB6D-D569-F94A-5049-57AEFF0E5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CA50AA-E40F-EADA-24A5-84BF1B3B3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There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parts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my</a:t>
            </a:r>
            <a:r>
              <a:rPr lang="zh-CN" altLang="en-US" dirty="0"/>
              <a:t> </a:t>
            </a:r>
            <a:r>
              <a:rPr lang="en-US" altLang="zh-CN" dirty="0"/>
              <a:t>presentation</a:t>
            </a:r>
            <a:r>
              <a:rPr lang="zh-CN" altLang="en-US" dirty="0"/>
              <a:t> </a:t>
            </a:r>
            <a:r>
              <a:rPr lang="en-US" altLang="zh-CN" dirty="0"/>
              <a:t>todays.</a:t>
            </a:r>
            <a:r>
              <a:rPr lang="zh-CN" altLang="en-US" dirty="0"/>
              <a:t> </a:t>
            </a:r>
            <a:r>
              <a:rPr lang="en-US" altLang="zh-CN" dirty="0"/>
              <a:t>First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metID,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want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talk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am</a:t>
            </a:r>
            <a:r>
              <a:rPr lang="zh-CN" altLang="en-US" dirty="0"/>
              <a:t> </a:t>
            </a:r>
            <a:r>
              <a:rPr lang="en-US" altLang="zh-CN" dirty="0"/>
              <a:t>still</a:t>
            </a:r>
            <a:r>
              <a:rPr lang="zh-CN" altLang="en-US" dirty="0"/>
              <a:t> </a:t>
            </a:r>
            <a:r>
              <a:rPr lang="en-US" altLang="zh-CN" dirty="0"/>
              <a:t>working</a:t>
            </a:r>
            <a:r>
              <a:rPr lang="zh-CN" altLang="en-US" dirty="0"/>
              <a:t> </a:t>
            </a:r>
            <a:r>
              <a:rPr lang="en-US" altLang="zh-CN" dirty="0"/>
              <a:t>on.</a:t>
            </a:r>
            <a:r>
              <a:rPr lang="zh-CN" altLang="en-US" dirty="0"/>
              <a:t> </a:t>
            </a:r>
            <a:r>
              <a:rPr lang="en-US" altLang="zh-CN" dirty="0"/>
              <a:t>So</a:t>
            </a:r>
            <a:r>
              <a:rPr lang="zh-CN" altLang="en-US" dirty="0"/>
              <a:t> </a:t>
            </a:r>
            <a:r>
              <a:rPr lang="en-US" altLang="zh-CN" dirty="0"/>
              <a:t>let’s</a:t>
            </a:r>
            <a:r>
              <a:rPr lang="zh-CN" altLang="en-US" dirty="0"/>
              <a:t> </a:t>
            </a:r>
            <a:r>
              <a:rPr lang="en-US" altLang="zh-CN" dirty="0"/>
              <a:t>get</a:t>
            </a:r>
            <a:r>
              <a:rPr lang="zh-CN" altLang="en-US" dirty="0"/>
              <a:t> </a:t>
            </a:r>
            <a:r>
              <a:rPr lang="en-US" altLang="zh-CN" dirty="0"/>
              <a:t>it</a:t>
            </a:r>
            <a:r>
              <a:rPr lang="zh-CN" altLang="en-US" dirty="0"/>
              <a:t> </a:t>
            </a:r>
            <a:r>
              <a:rPr lang="en-US" altLang="zh-CN" dirty="0"/>
              <a:t>started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part</a:t>
            </a:r>
            <a:r>
              <a:rPr lang="zh-CN" altLang="en-US" dirty="0"/>
              <a:t> </a:t>
            </a:r>
            <a:r>
              <a:rPr lang="en-US" altLang="zh-CN" dirty="0"/>
              <a:t>1.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1EB06E-05BF-B10E-EAC6-C3D38C695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C4902-BD49-F74E-A971-8B1A8F7747B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53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C4902-BD49-F74E-A971-8B1A8F7747B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948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0D32-B2F6-F54D-91DA-AEC484570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330A1-5797-F949-BBEC-83B2EE4DF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35F82-76E3-F948-9318-908B1B05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16E61-B188-DF4E-8F7D-B3E64151C2B6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C0A96-407C-9546-B358-9555C6DF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C66FE-219A-0A46-950C-8D8BA547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00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1211-AF9C-6746-8B6F-4A8A14F69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2F5A2-B80A-2842-B79E-CA3594303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91804-58D6-1542-B8DE-017785CA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CDDBB-4AAB-AD4F-A76E-5D2FCDB990AC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CB3DF-D12B-984F-A0AA-CC57A39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4C8B1-335B-7046-9C8D-2B44D170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6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ED90-17DF-B447-915D-F998887A7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6E0E6-A84C-E14D-8EDE-5239087BE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88A92-B6CE-EC4A-AE07-4DFC439B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01445-4A1F-0941-B58E-B98ED6754CE2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4F695-39B4-3546-B9DC-1340CD65F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012DD-1BC2-C747-B53E-003BB2B6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54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5C8D-3964-724D-A298-3DDB098D6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927F-E553-FD46-B174-33C9982AC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38926D-D0AC-F84C-9AF4-A021FE849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409E8-1AC8-E545-AC38-E7EB3E11A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EA4BA-DA8B-FC4F-BDF9-AD5A64A12F81}" type="datetime1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12E17-4D94-3B4C-933E-D64AEA66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B830B-AED9-2047-BCFA-9A117BE6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0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EA30-1CDF-C24F-9E32-1095FE5F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E77AB-AA2E-EE4F-88AC-2EF0FAFE2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B1A4D-6F3F-B949-B8A7-E8418AD9F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8850B0-9173-8F4A-A076-22A2F87FB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655A5-692E-214E-B162-271512AA6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78C20C-F698-1D46-B61B-8D248953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C893-9DCD-B04A-8876-9C614BC5AA29}" type="datetime1">
              <a:rPr lang="en-US" smtClean="0"/>
              <a:t>12/1/24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EC5C21-A31E-754B-A2D6-3B512E42E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0C9D6-B90B-B54F-A268-1DACB774F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5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8E35-7EBF-1540-8926-41317353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23964-8752-6B47-ADE1-671B8FB51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BFBA2-7342-0643-B843-DE8C56A48F48}" type="datetime1">
              <a:rPr lang="en-US" smtClean="0"/>
              <a:t>12/1/24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33277-58CE-A445-92FC-1195017DB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F64ED-5AAB-BD48-A9EB-3C597A24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94B09-0FD5-3146-A526-2E985F373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7703C-D311-044A-B46F-DC0C56A09272}" type="datetime1">
              <a:rPr lang="en-US" smtClean="0"/>
              <a:t>12/1/24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197B33-8670-BB48-B6ED-520BED643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2D68A-751C-6D4E-8183-56E87067C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78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1A851-E008-AE47-8451-666E0804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1B2E0-5C1B-E54F-B140-00C70B7D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FCC4F-4F64-924B-B2AD-528257365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55F4E7-5598-CF42-974B-7CFC6A51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FCB8-CFD7-6141-A502-53E550B2EE61}" type="datetime1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6F220-2AC9-8A43-8E44-7FC96FAFA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03DDDF-9120-6B4B-9ECC-9814EF8F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E1C61-7843-4647-AFCB-577B0DEA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6DA0E7-D0DC-CB4B-BB00-772982C90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34AB4-74FF-0840-A201-6EDEAC9ED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EE2A6-1ADE-474F-AE01-D872EF38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C5569-61FD-C94E-929F-E00CB93DC985}" type="datetime1">
              <a:rPr lang="en-US" smtClean="0"/>
              <a:t>12/1/24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29701-9123-144A-BE85-43523D28B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A3C88-3224-0F49-B20E-CD28FB05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85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3C43-90CF-714F-9F89-C5CCDFCD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6904B-14E1-EB4B-80D9-3C87306C1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07001-C9D1-B041-9854-5657AF00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37176-D3C4-B341-A96B-EDABCF97F6C5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B6FC1-F9C5-1F4B-8160-F7FD59A8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DE9F8-9C49-2E46-94F4-B5D30734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92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FF7C1-D280-B349-B6C4-99BC55B51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9D04E4-1DD2-F14F-9116-6A8492330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6D90C-8B02-C044-9D76-5CAC8F6A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FD20-F7A7-E640-9FFA-0CC148979A5D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45E6F-AF0B-FB4A-ABF3-0803CC52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7AE74-DC3D-DD40-A7D8-82B5E56B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8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399E6-06D6-444E-BC2F-3F516B2F6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B850D-0451-574A-AABE-C5C189B7F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1A5B1-393E-C948-A2B7-301C7A680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67CFB-02B6-D04F-BA21-C9F4352226D7}" type="datetime1">
              <a:rPr lang="en-US" smtClean="0"/>
              <a:t>12/1/24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183A1-D495-E244-8F6C-E073EE790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BBCB8-F8F6-284D-AA8B-F2B0C62AA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99DEC-5E74-A740-B0BA-9608321BB3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231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tiff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tiff"/><Relationship Id="rId5" Type="http://schemas.openxmlformats.org/officeDocument/2006/relationships/image" Target="../media/image3.tiff"/><Relationship Id="rId10" Type="http://schemas.openxmlformats.org/officeDocument/2006/relationships/image" Target="../media/image8.png"/><Relationship Id="rId4" Type="http://schemas.openxmlformats.org/officeDocument/2006/relationships/image" Target="../media/image2.tiff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3">
            <a:extLst>
              <a:ext uri="{FF2B5EF4-FFF2-40B4-BE49-F238E27FC236}">
                <a16:creationId xmlns:a16="http://schemas.microsoft.com/office/drawing/2014/main" id="{DE84B620-E6DB-3A4B-B873-9408464B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6D0D54-97C1-E900-6696-05A9A1A3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F01CC7F-FCAA-761B-013F-2BF9EAD44A5B}"/>
              </a:ext>
            </a:extLst>
          </p:cNvPr>
          <p:cNvSpPr/>
          <p:nvPr/>
        </p:nvSpPr>
        <p:spPr>
          <a:xfrm>
            <a:off x="-18088" y="0"/>
            <a:ext cx="12228176" cy="6877664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65A02D2-67E4-BF8B-B55D-CE817F3E2BA0}"/>
              </a:ext>
            </a:extLst>
          </p:cNvPr>
          <p:cNvSpPr txBox="1"/>
          <p:nvPr/>
        </p:nvSpPr>
        <p:spPr>
          <a:xfrm>
            <a:off x="128216" y="496974"/>
            <a:ext cx="83588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Helvetica" pitchFamily="2" charset="0"/>
              </a:rPr>
              <a:t>TidyMass: An Object-oriented Reproducible Analysis Framework for LC-MS Data</a:t>
            </a:r>
            <a:endParaRPr lang="en-US" sz="40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6ABFC-5BCC-AD9D-F7D0-B96151B47B12}"/>
              </a:ext>
            </a:extLst>
          </p:cNvPr>
          <p:cNvSpPr txBox="1"/>
          <p:nvPr/>
        </p:nvSpPr>
        <p:spPr>
          <a:xfrm>
            <a:off x="128216" y="3075985"/>
            <a:ext cx="1206376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Xiaotao</a:t>
            </a:r>
            <a:r>
              <a:rPr lang="zh-CN" altLang="en-US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Shen,</a:t>
            </a:r>
            <a:r>
              <a:rPr lang="zh-CN" altLang="en-US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Ph.D.</a:t>
            </a:r>
          </a:p>
          <a:p>
            <a:endParaRPr lang="en-US" altLang="zh-CN" sz="2000" dirty="0">
              <a:solidFill>
                <a:schemeClr val="accent3">
                  <a:lumMod val="20000"/>
                  <a:lumOff val="80000"/>
                </a:schemeClr>
              </a:solidFill>
              <a:latin typeface="Helvetica" pitchFamily="2" charset="0"/>
            </a:endParaRP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Nanyang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Assistant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Professor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Lee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Kong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Chian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School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of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Medicine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&amp;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School of Chemistry, Chemical Engineering and Biotechnology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Nanyang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Technological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University,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Singapore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endParaRPr lang="en-US" altLang="zh-CN" sz="2000" dirty="0">
              <a:solidFill>
                <a:schemeClr val="accent3">
                  <a:lumMod val="20000"/>
                  <a:lumOff val="80000"/>
                </a:schemeClr>
              </a:solidFill>
              <a:latin typeface="Helvetica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644969-0660-D75D-FE9A-BA0186007DE1}"/>
              </a:ext>
            </a:extLst>
          </p:cNvPr>
          <p:cNvSpPr txBox="1"/>
          <p:nvPr/>
        </p:nvSpPr>
        <p:spPr>
          <a:xfrm>
            <a:off x="128216" y="5197617"/>
            <a:ext cx="7735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Helvetica" pitchFamily="2" charset="0"/>
              </a:rPr>
              <a:t>May</a:t>
            </a:r>
            <a:r>
              <a:rPr lang="zh-CN" altLang="en-US" sz="20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Helvetica" pitchFamily="2" charset="0"/>
              </a:rPr>
              <a:t>29</a:t>
            </a:r>
            <a:r>
              <a:rPr lang="en-US" altLang="zh-CN" sz="2000" baseline="30000" dirty="0">
                <a:solidFill>
                  <a:schemeClr val="bg1"/>
                </a:solidFill>
                <a:latin typeface="Helvetica" pitchFamily="2" charset="0"/>
              </a:rPr>
              <a:t>th</a:t>
            </a:r>
            <a:r>
              <a:rPr lang="en-US" altLang="zh-CN" sz="2000" dirty="0">
                <a:solidFill>
                  <a:schemeClr val="bg1"/>
                </a:solidFill>
                <a:latin typeface="Helvetica" pitchFamily="2" charset="0"/>
              </a:rPr>
              <a:t>,</a:t>
            </a:r>
            <a:r>
              <a:rPr lang="zh-CN" altLang="en-US" sz="20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Helvetica" pitchFamily="2" charset="0"/>
              </a:rPr>
              <a:t>2024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A46EC-6DE7-5D79-1751-3145332397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31" y="6368901"/>
            <a:ext cx="276424" cy="2764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5699FB-227A-1D10-8DC3-0AD89020A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47" y="5969220"/>
            <a:ext cx="276424" cy="2764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7311C2-1A5E-AD57-3382-438E7730D9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932" y="5969221"/>
            <a:ext cx="276423" cy="2764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21F0D9-3675-0C50-152E-58C2E8847B4F}"/>
              </a:ext>
            </a:extLst>
          </p:cNvPr>
          <p:cNvSpPr txBox="1"/>
          <p:nvPr/>
        </p:nvSpPr>
        <p:spPr>
          <a:xfrm>
            <a:off x="567354" y="5938155"/>
            <a:ext cx="2615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Helvetica" pitchFamily="2" charset="0"/>
              </a:rPr>
              <a:t>xiaotao.shen@ntu.edu.sg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3D0067-465C-772C-C6D4-CC68F1645852}"/>
              </a:ext>
            </a:extLst>
          </p:cNvPr>
          <p:cNvSpPr txBox="1"/>
          <p:nvPr/>
        </p:nvSpPr>
        <p:spPr>
          <a:xfrm>
            <a:off x="567355" y="6337836"/>
            <a:ext cx="219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Helvetica" pitchFamily="2" charset="0"/>
              </a:rPr>
              <a:t>shen-lab.org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DCFEF-918D-55A8-7D65-6480B131A565}"/>
              </a:ext>
            </a:extLst>
          </p:cNvPr>
          <p:cNvSpPr txBox="1"/>
          <p:nvPr/>
        </p:nvSpPr>
        <p:spPr>
          <a:xfrm>
            <a:off x="3832831" y="5938155"/>
            <a:ext cx="176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elvetica" pitchFamily="2" charset="0"/>
              </a:rPr>
              <a:t>xiaotaoshen1990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AA36BF-4CBB-06D9-CFFE-B2E7EA211C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47" y="6351801"/>
            <a:ext cx="310625" cy="3106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196FFF-EA8C-83BA-3853-0871DD131E43}"/>
              </a:ext>
            </a:extLst>
          </p:cNvPr>
          <p:cNvSpPr txBox="1"/>
          <p:nvPr/>
        </p:nvSpPr>
        <p:spPr>
          <a:xfrm>
            <a:off x="3832831" y="6337836"/>
            <a:ext cx="229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elvetica" pitchFamily="2" charset="0"/>
              </a:rPr>
              <a:t>github.com/jaspershen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C01419-281C-9762-8EE2-FADA8E7D68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2123" y="5923993"/>
            <a:ext cx="804602" cy="8100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D8B1FB-8E98-E20C-979F-763591A183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204" y="6150912"/>
            <a:ext cx="1528051" cy="35620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527011-F50A-5AB3-7928-FD4399D0101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7613" y="336978"/>
            <a:ext cx="1804336" cy="6471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B3257D-5B30-12FC-BB9B-92EF286233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6124" y="1135015"/>
            <a:ext cx="1787315" cy="41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53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500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E5FB09-20B8-D441-9F2D-CB0BC5106263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Helvetica" pitchFamily="2" charset="0"/>
              </a:rPr>
              <a:t>Outline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702183-F15B-2841-8397-3517E248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FB1EB-90CB-A24B-7F29-4AB190EBD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14EA7F-4259-0797-791B-5CA6BB205264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4CFDBD7-B14B-5016-B3C9-4262709E3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13" y="6538912"/>
            <a:ext cx="718088" cy="25755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A69F13-E160-E758-09C5-AF6DEF0B2088}"/>
              </a:ext>
            </a:extLst>
          </p:cNvPr>
          <p:cNvSpPr/>
          <p:nvPr/>
        </p:nvSpPr>
        <p:spPr>
          <a:xfrm>
            <a:off x="294640" y="1359382"/>
            <a:ext cx="11897360" cy="309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500"/>
              </a:spcAft>
              <a:buFont typeface="Wingdings" pitchFamily="2" charset="2"/>
              <a:buChar char="v"/>
            </a:pPr>
            <a:r>
              <a:rPr lang="en-US" altLang="zh-CN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TidyMass: An Object-Oriented Reproducible Analysis Framework for LC-MS Data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Concept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of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Design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mass_dataset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class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object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Reproducible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Analysis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Using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TidyMass</a:t>
            </a:r>
          </a:p>
          <a:p>
            <a:pPr>
              <a:spcAft>
                <a:spcPts val="500"/>
              </a:spcAft>
            </a:pPr>
            <a:endParaRPr lang="en-US" altLang="zh-CN" sz="2400" dirty="0">
              <a:solidFill>
                <a:schemeClr val="bg1"/>
              </a:solidFill>
              <a:latin typeface="Helvetica" pitchFamily="2" charset="0"/>
              <a:ea typeface="Segoe UI Emoji" panose="020B0502040204020203" pitchFamily="34" charset="0"/>
            </a:endParaRPr>
          </a:p>
          <a:p>
            <a:pPr marL="514350" indent="-514350">
              <a:spcAft>
                <a:spcPts val="500"/>
              </a:spcAft>
              <a:buFont typeface="Wingdings" pitchFamily="2" charset="2"/>
              <a:buChar char="v"/>
            </a:pPr>
            <a:r>
              <a:rPr lang="en-US" altLang="zh-CN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Case</a:t>
            </a:r>
            <a:r>
              <a:rPr lang="zh-CN" altLang="en-US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 </a:t>
            </a:r>
            <a:r>
              <a:rPr lang="en-US" altLang="zh-CN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Study:</a:t>
            </a:r>
            <a:r>
              <a:rPr lang="zh-CN" altLang="en-US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 </a:t>
            </a:r>
            <a:r>
              <a:rPr lang="en-US" altLang="zh-CN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A Blood Metabolome Atlas of  Rhesus Macaques</a:t>
            </a:r>
            <a:endParaRPr lang="en-US" altLang="zh-CN" sz="2600" b="1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24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5000">
              <a:schemeClr val="tx1">
                <a:lumMod val="65000"/>
                <a:lumOff val="35000"/>
              </a:schemeClr>
            </a:gs>
            <a:gs pos="100000">
              <a:schemeClr val="tx1">
                <a:lumMod val="85000"/>
                <a:lumOff val="15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83F48-79D0-59A7-4AFE-29E73912C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44670C-241A-9E62-93A4-BD83FCFD9806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Helvetica" pitchFamily="2" charset="0"/>
              </a:rPr>
              <a:t>Outline</a:t>
            </a:r>
            <a:endParaRPr lang="en-US" sz="28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776071D-626B-64A2-BDB1-D23037035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3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8D9F80-6907-D63D-3A79-9D947F57599A}"/>
              </a:ext>
            </a:extLst>
          </p:cNvPr>
          <p:cNvSpPr/>
          <p:nvPr/>
        </p:nvSpPr>
        <p:spPr>
          <a:xfrm>
            <a:off x="294640" y="1359382"/>
            <a:ext cx="11897360" cy="3090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spcAft>
                <a:spcPts val="500"/>
              </a:spcAft>
              <a:buFont typeface="Wingdings" pitchFamily="2" charset="2"/>
              <a:buChar char="v"/>
            </a:pPr>
            <a:r>
              <a:rPr lang="en-US" altLang="zh-CN" sz="2600" b="1" dirty="0">
                <a:solidFill>
                  <a:schemeClr val="bg1"/>
                </a:solidFill>
                <a:latin typeface="Helvetica" pitchFamily="2" charset="0"/>
                <a:ea typeface="Segoe UI Emoji" panose="020B0502040204020203" pitchFamily="34" charset="0"/>
              </a:rPr>
              <a:t>TidyMass: An Object-Oriented Reproducible Analysis Framework for LC-MS Data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Concept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of</a:t>
            </a:r>
            <a:r>
              <a:rPr lang="zh-CN" altLang="en-US" sz="2400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Helvetica" pitchFamily="2" charset="0"/>
              </a:rPr>
              <a:t>Design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mass_dataset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class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object</a:t>
            </a:r>
          </a:p>
          <a:p>
            <a:pPr marL="342900" indent="-342900">
              <a:spcAft>
                <a:spcPts val="500"/>
              </a:spcAft>
              <a:buFont typeface="Courier New" panose="02070309020205020404" pitchFamily="49" charset="0"/>
              <a:buChar char="o"/>
            </a:pP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Reproducible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Analysis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Using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TidyMass</a:t>
            </a:r>
          </a:p>
          <a:p>
            <a:pPr>
              <a:spcAft>
                <a:spcPts val="500"/>
              </a:spcAft>
            </a:pP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  <a:ea typeface="Segoe UI Emoji" panose="020B0502040204020203" pitchFamily="34" charset="0"/>
            </a:endParaRPr>
          </a:p>
          <a:p>
            <a:pPr marL="514350" indent="-514350">
              <a:spcAft>
                <a:spcPts val="500"/>
              </a:spcAft>
              <a:buFont typeface="Wingdings" pitchFamily="2" charset="2"/>
              <a:buChar char="v"/>
            </a:pPr>
            <a:r>
              <a:rPr lang="en-US" altLang="zh-CN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Segoe UI Emoji" panose="020B0502040204020203" pitchFamily="34" charset="0"/>
              </a:rPr>
              <a:t>Case</a:t>
            </a:r>
            <a:r>
              <a:rPr lang="zh-CN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Segoe UI Emoji" panose="020B0502040204020203" pitchFamily="34" charset="0"/>
              </a:rPr>
              <a:t> </a:t>
            </a:r>
            <a:r>
              <a:rPr lang="en-US" altLang="zh-CN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Segoe UI Emoji" panose="020B0502040204020203" pitchFamily="34" charset="0"/>
              </a:rPr>
              <a:t>Study:</a:t>
            </a:r>
            <a:r>
              <a:rPr lang="zh-CN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Segoe UI Emoji" panose="020B0502040204020203" pitchFamily="34" charset="0"/>
              </a:rPr>
              <a:t> </a:t>
            </a:r>
            <a:r>
              <a:rPr lang="en-US" altLang="zh-CN" sz="2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ea typeface="Segoe UI Emoji" panose="020B0502040204020203" pitchFamily="34" charset="0"/>
              </a:rPr>
              <a:t>A Blood Metabolome Atlas of  Rhesus Macaques</a:t>
            </a:r>
            <a:endParaRPr lang="en-US" altLang="zh-CN" sz="2600" b="1" dirty="0">
              <a:solidFill>
                <a:schemeClr val="tx1">
                  <a:lumMod val="50000"/>
                  <a:lumOff val="50000"/>
                </a:schemeClr>
              </a:solidFill>
              <a:latin typeface="Helvetica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31160E-24A3-D2D3-63BD-91AE39972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2BB0B1-AC3E-131E-8833-D0EF10A61FF6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C888230-2FAF-7341-27FA-DEE1207DE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113" y="6538912"/>
            <a:ext cx="718088" cy="25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8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1E5FB09-20B8-D441-9F2D-CB0BC5106263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Study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Design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And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Overview</a:t>
            </a:r>
            <a:endParaRPr lang="en-US" sz="2800" b="1" dirty="0">
              <a:solidFill>
                <a:srgbClr val="5C004D"/>
              </a:solidFill>
              <a:latin typeface="Helvetica" pitchFamily="2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18F8ACE-2627-BE4E-BF69-517419064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1DC322-C1C2-C273-F587-BE508008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145A59-71E9-F1B1-6800-3198709CFF5E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rgbClr val="5C0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anyang Technological University - NTU Singapore">
            <a:extLst>
              <a:ext uri="{FF2B5EF4-FFF2-40B4-BE49-F238E27FC236}">
                <a16:creationId xmlns:a16="http://schemas.microsoft.com/office/drawing/2014/main" id="{6E0FF19D-F1BE-C798-8294-6714482C4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12" y="6538912"/>
            <a:ext cx="718088" cy="25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2D3680-0784-5D38-B458-7DD074914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02" y="1358088"/>
            <a:ext cx="11597796" cy="4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8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6AE7-7B1A-9318-C14B-09BA941B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565EECB-7D18-16EE-1D5F-E9152B156E5A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“</a:t>
            </a:r>
            <a:r>
              <a:rPr lang="en-US" altLang="zh-CN" sz="2800" b="1" dirty="0" err="1">
                <a:solidFill>
                  <a:srgbClr val="5C004D"/>
                </a:solidFill>
                <a:latin typeface="Helvetica" pitchFamily="2" charset="0"/>
              </a:rPr>
              <a:t>mass_dataset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”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in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TidyMass</a:t>
            </a:r>
            <a:endParaRPr lang="en-US" sz="2800" b="1" dirty="0">
              <a:solidFill>
                <a:srgbClr val="5C004D"/>
              </a:solidFill>
              <a:latin typeface="Helvetica" pitchFamily="2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31C892-C2E2-2AD4-ADB0-93CDCEFDC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C3B55F-B851-C057-E58F-A22487788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5F274C-3033-A02C-B53B-524028193DD2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rgbClr val="5C0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anyang Technological University - NTU Singapore">
            <a:extLst>
              <a:ext uri="{FF2B5EF4-FFF2-40B4-BE49-F238E27FC236}">
                <a16:creationId xmlns:a16="http://schemas.microsoft.com/office/drawing/2014/main" id="{0CAD9083-F7C6-0A0C-2C07-FBE258362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12" y="6538912"/>
            <a:ext cx="718088" cy="25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DC2CDB-8356-3ACD-1609-891C6EA7E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831487"/>
            <a:ext cx="7772400" cy="561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39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EE36B-F3C0-FD17-61C0-303697D9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3FE8A64-91EA-5A5C-D641-697EBF7D3A4B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Workflow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of</a:t>
            </a:r>
            <a:r>
              <a:rPr lang="zh-CN" altLang="en-US" sz="2800" b="1" dirty="0">
                <a:solidFill>
                  <a:srgbClr val="5C004D"/>
                </a:solidFill>
                <a:latin typeface="Helvetica" pitchFamily="2" charset="0"/>
              </a:rPr>
              <a:t> </a:t>
            </a:r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TidyMass</a:t>
            </a:r>
            <a:endParaRPr lang="en-US" sz="2800" b="1" dirty="0">
              <a:solidFill>
                <a:srgbClr val="5C004D"/>
              </a:solidFill>
              <a:latin typeface="Helvetica" pitchFamily="2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164E907-331E-B2FF-EB67-0F4B1C9A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B6DF8C-56EC-697A-6D85-51B9D0A73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EEBFE0-A6B4-8C0A-A094-14B96DFF18A8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rgbClr val="5C0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anyang Technological University - NTU Singapore">
            <a:extLst>
              <a:ext uri="{FF2B5EF4-FFF2-40B4-BE49-F238E27FC236}">
                <a16:creationId xmlns:a16="http://schemas.microsoft.com/office/drawing/2014/main" id="{62CC2537-8341-B910-F54F-52F5E3533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12" y="6538912"/>
            <a:ext cx="718088" cy="25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FED2C4-2A5C-40A3-51F1-5C0DBAEF3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456" y="844368"/>
            <a:ext cx="6893734" cy="569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208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9D09C-5559-C2D0-6826-A21E03D1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FF6C8C6-0488-A2DA-A18A-1E701F9A6C2F}"/>
              </a:ext>
            </a:extLst>
          </p:cNvPr>
          <p:cNvSpPr txBox="1"/>
          <p:nvPr/>
        </p:nvSpPr>
        <p:spPr>
          <a:xfrm>
            <a:off x="0" y="4916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5C004D"/>
                </a:solidFill>
                <a:latin typeface="Helvetica" pitchFamily="2" charset="0"/>
              </a:rPr>
              <a:t>Acknowledgments</a:t>
            </a:r>
            <a:endParaRPr lang="en-US" sz="2800" b="1" dirty="0">
              <a:solidFill>
                <a:srgbClr val="5C004D"/>
              </a:solidFill>
              <a:latin typeface="Helvetica" pitchFamily="2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ABD3D4B-8F18-659F-89D4-54AAD5B6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C0828-8386-7AA6-99DA-A820171B8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554" y="6544297"/>
            <a:ext cx="1059646" cy="2470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251A827-6240-482D-F25A-86AC8933BE03}"/>
              </a:ext>
            </a:extLst>
          </p:cNvPr>
          <p:cNvCxnSpPr/>
          <p:nvPr/>
        </p:nvCxnSpPr>
        <p:spPr>
          <a:xfrm>
            <a:off x="930584" y="6544297"/>
            <a:ext cx="0" cy="257782"/>
          </a:xfrm>
          <a:prstGeom prst="line">
            <a:avLst/>
          </a:prstGeom>
          <a:ln>
            <a:solidFill>
              <a:srgbClr val="5C00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Nanyang Technological University - NTU Singapore">
            <a:extLst>
              <a:ext uri="{FF2B5EF4-FFF2-40B4-BE49-F238E27FC236}">
                <a16:creationId xmlns:a16="http://schemas.microsoft.com/office/drawing/2014/main" id="{6D90921C-590B-B92A-89EA-277B52CB96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12" y="6538912"/>
            <a:ext cx="718088" cy="257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EDC4161-3D20-5D73-DDC0-7BB0856A3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24" r="324"/>
          <a:stretch/>
        </p:blipFill>
        <p:spPr bwMode="auto">
          <a:xfrm>
            <a:off x="1788698" y="857391"/>
            <a:ext cx="1559061" cy="1561750"/>
          </a:xfrm>
          <a:custGeom>
            <a:avLst/>
            <a:gdLst>
              <a:gd name="connsiteX0" fmla="*/ 780875 w 1559061"/>
              <a:gd name="connsiteY0" fmla="*/ 0 h 1561750"/>
              <a:gd name="connsiteX1" fmla="*/ 1557719 w 1559061"/>
              <a:gd name="connsiteY1" fmla="*/ 701035 h 1561750"/>
              <a:gd name="connsiteX2" fmla="*/ 1559061 w 1559061"/>
              <a:gd name="connsiteY2" fmla="*/ 727623 h 1561750"/>
              <a:gd name="connsiteX3" fmla="*/ 1559061 w 1559061"/>
              <a:gd name="connsiteY3" fmla="*/ 834127 h 1561750"/>
              <a:gd name="connsiteX4" fmla="*/ 1557719 w 1559061"/>
              <a:gd name="connsiteY4" fmla="*/ 860715 h 1561750"/>
              <a:gd name="connsiteX5" fmla="*/ 780875 w 1559061"/>
              <a:gd name="connsiteY5" fmla="*/ 1561750 h 1561750"/>
              <a:gd name="connsiteX6" fmla="*/ 0 w 1559061"/>
              <a:gd name="connsiteY6" fmla="*/ 780875 h 1561750"/>
              <a:gd name="connsiteX7" fmla="*/ 780875 w 1559061"/>
              <a:gd name="connsiteY7" fmla="*/ 0 h 156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9061" h="1561750">
                <a:moveTo>
                  <a:pt x="780875" y="0"/>
                </a:moveTo>
                <a:cubicBezTo>
                  <a:pt x="1185186" y="0"/>
                  <a:pt x="1517730" y="307275"/>
                  <a:pt x="1557719" y="701035"/>
                </a:cubicBezTo>
                <a:lnTo>
                  <a:pt x="1559061" y="727623"/>
                </a:lnTo>
                <a:lnTo>
                  <a:pt x="1559061" y="834127"/>
                </a:lnTo>
                <a:lnTo>
                  <a:pt x="1557719" y="860715"/>
                </a:lnTo>
                <a:cubicBezTo>
                  <a:pt x="1517730" y="1254476"/>
                  <a:pt x="1185186" y="1561750"/>
                  <a:pt x="780875" y="1561750"/>
                </a:cubicBezTo>
                <a:cubicBezTo>
                  <a:pt x="349610" y="1561750"/>
                  <a:pt x="0" y="1212140"/>
                  <a:pt x="0" y="780875"/>
                </a:cubicBezTo>
                <a:cubicBezTo>
                  <a:pt x="0" y="349610"/>
                  <a:pt x="349610" y="0"/>
                  <a:pt x="78087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283A07-E3E1-0364-7C2D-C151FA9F25FF}"/>
              </a:ext>
            </a:extLst>
          </p:cNvPr>
          <p:cNvSpPr/>
          <p:nvPr/>
        </p:nvSpPr>
        <p:spPr>
          <a:xfrm>
            <a:off x="1460393" y="2520108"/>
            <a:ext cx="22156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Prof. </a:t>
            </a:r>
            <a:r>
              <a:rPr lang="en-US" altLang="zh-CN" sz="1600" b="1" dirty="0">
                <a:latin typeface="Helvetica" pitchFamily="2" charset="0"/>
              </a:rPr>
              <a:t>Jake</a:t>
            </a:r>
            <a:r>
              <a:rPr lang="zh-CN" altLang="en-US" sz="1600" b="1" dirty="0">
                <a:latin typeface="Helvetica" pitchFamily="2" charset="0"/>
              </a:rPr>
              <a:t> </a:t>
            </a:r>
            <a:r>
              <a:rPr lang="en-US" altLang="zh-CN" sz="1600" b="1" dirty="0">
                <a:latin typeface="Helvetica" pitchFamily="2" charset="0"/>
              </a:rPr>
              <a:t>Goodman</a:t>
            </a:r>
            <a:endParaRPr lang="en-US" sz="1600" b="1" dirty="0">
              <a:latin typeface="Helvetica" pitchFamily="2" charset="0"/>
            </a:endParaRP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(Good</a:t>
            </a:r>
            <a:r>
              <a:rPr lang="zh-CN" altLang="en-US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University)</a:t>
            </a:r>
            <a:endParaRPr lang="en-US" sz="1600" b="1" dirty="0">
              <a:solidFill>
                <a:schemeClr val="bg2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9C511-9C38-EDAD-E510-58213AC81A5E}"/>
              </a:ext>
            </a:extLst>
          </p:cNvPr>
          <p:cNvSpPr/>
          <p:nvPr/>
        </p:nvSpPr>
        <p:spPr>
          <a:xfrm>
            <a:off x="7554109" y="3217672"/>
            <a:ext cx="2232287" cy="118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Jialidun</a:t>
            </a:r>
            <a:r>
              <a:rPr lang="zh-CN" altLang="en-US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University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</a:t>
            </a:r>
            <a:r>
              <a:rPr lang="zh-CN" altLang="en-US" sz="1500" b="1" dirty="0">
                <a:latin typeface="Helvetica" pitchFamily="2" charset="0"/>
              </a:rPr>
              <a:t> </a:t>
            </a:r>
            <a:r>
              <a:rPr lang="en-US" altLang="zh-CN" sz="1500" b="1" dirty="0">
                <a:latin typeface="Helvetica" pitchFamily="2" charset="0"/>
              </a:rPr>
              <a:t>Wang Wang</a:t>
            </a:r>
            <a:endParaRPr lang="en-US" altLang="zh-CN" sz="1500" dirty="0">
              <a:latin typeface="Helvetica" pitchFamily="2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Kevin Kevin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Jessalyn Jessalyn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129FD1-5A04-57DF-61B4-F7D25CBF7CDF}"/>
              </a:ext>
            </a:extLst>
          </p:cNvPr>
          <p:cNvSpPr/>
          <p:nvPr/>
        </p:nvSpPr>
        <p:spPr>
          <a:xfrm>
            <a:off x="5026898" y="2520108"/>
            <a:ext cx="21483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Prof. </a:t>
            </a:r>
            <a:r>
              <a:rPr lang="en-US" altLang="zh-CN" sz="1600" b="1" dirty="0">
                <a:latin typeface="Helvetica" pitchFamily="2" charset="0"/>
              </a:rPr>
              <a:t>Jiaoshou</a:t>
            </a:r>
            <a:r>
              <a:rPr lang="zh-CN" altLang="en-US" sz="1600" b="1" dirty="0">
                <a:latin typeface="Helvetica" pitchFamily="2" charset="0"/>
              </a:rPr>
              <a:t> </a:t>
            </a:r>
            <a:r>
              <a:rPr lang="en-US" altLang="zh-CN" sz="1600" b="1" dirty="0">
                <a:latin typeface="Helvetica" pitchFamily="2" charset="0"/>
              </a:rPr>
              <a:t>Hao</a:t>
            </a:r>
            <a:endParaRPr lang="en-US" sz="1600" b="1" dirty="0">
              <a:latin typeface="Helvetica" pitchFamily="2" charset="0"/>
            </a:endParaRP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(Jialidun</a:t>
            </a:r>
            <a:r>
              <a:rPr lang="zh-CN" altLang="en-US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University)</a:t>
            </a:r>
            <a:endParaRPr lang="en-US" sz="1600" b="1" dirty="0">
              <a:solidFill>
                <a:schemeClr val="bg2">
                  <a:lumMod val="75000"/>
                </a:schemeClr>
              </a:solidFill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7A7B3E-91F5-845C-832F-48390D458E70}"/>
              </a:ext>
            </a:extLst>
          </p:cNvPr>
          <p:cNvSpPr/>
          <p:nvPr/>
        </p:nvSpPr>
        <p:spPr>
          <a:xfrm>
            <a:off x="4904533" y="3217672"/>
            <a:ext cx="2452288" cy="2569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Jake</a:t>
            </a:r>
            <a:r>
              <a:rPr lang="zh-CN" altLang="en-US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lab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 Ryan Ryan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 Daniel Daniel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 Daniel J. Daniel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Zhou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Zhou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Gao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Gao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Sai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Sai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Si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Si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Mr.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Ian Ian</a:t>
            </a:r>
            <a:endParaRPr lang="en-US" sz="1500" dirty="0">
              <a:latin typeface="Helvetica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C7DFC-6CD7-374D-9341-B21A792C6443}"/>
              </a:ext>
            </a:extLst>
          </p:cNvPr>
          <p:cNvSpPr/>
          <p:nvPr/>
        </p:nvSpPr>
        <p:spPr>
          <a:xfrm>
            <a:off x="8674876" y="2520108"/>
            <a:ext cx="19078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latin typeface="Helvetica" pitchFamily="2" charset="0"/>
              </a:rPr>
              <a:t>Prof. </a:t>
            </a:r>
            <a:r>
              <a:rPr lang="en-US" altLang="zh-CN" sz="1600" b="1" dirty="0">
                <a:latin typeface="Helvetica" pitchFamily="2" charset="0"/>
              </a:rPr>
              <a:t>Chole</a:t>
            </a:r>
            <a:r>
              <a:rPr lang="zh-CN" altLang="en-US" sz="1600" b="1" dirty="0">
                <a:latin typeface="Helvetica" pitchFamily="2" charset="0"/>
              </a:rPr>
              <a:t> </a:t>
            </a:r>
            <a:r>
              <a:rPr lang="en-US" altLang="zh-CN" sz="1600" b="1" dirty="0">
                <a:latin typeface="Helvetica" pitchFamily="2" charset="0"/>
              </a:rPr>
              <a:t>Shen</a:t>
            </a:r>
          </a:p>
          <a:p>
            <a:pPr algn="ctr"/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(Great</a:t>
            </a:r>
            <a:r>
              <a:rPr lang="zh-CN" altLang="en-US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600" b="1" dirty="0">
                <a:solidFill>
                  <a:schemeClr val="bg2">
                    <a:lumMod val="75000"/>
                  </a:schemeClr>
                </a:solidFill>
                <a:latin typeface="Helvetica" pitchFamily="2" charset="0"/>
              </a:rPr>
              <a:t>University)</a:t>
            </a:r>
            <a:endParaRPr lang="en-US" sz="1600" b="1" dirty="0">
              <a:solidFill>
                <a:schemeClr val="bg2">
                  <a:lumMod val="75000"/>
                </a:schemeClr>
              </a:solidFill>
              <a:latin typeface="Helvetica" pitchFamily="2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107134-9336-7ABF-B284-B7B4529EF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l="5720" r="5720"/>
          <a:stretch/>
        </p:blipFill>
        <p:spPr bwMode="auto">
          <a:xfrm>
            <a:off x="5321541" y="857391"/>
            <a:ext cx="1559061" cy="1561750"/>
          </a:xfrm>
          <a:custGeom>
            <a:avLst/>
            <a:gdLst>
              <a:gd name="connsiteX0" fmla="*/ 780875 w 1559061"/>
              <a:gd name="connsiteY0" fmla="*/ 0 h 1561750"/>
              <a:gd name="connsiteX1" fmla="*/ 1557719 w 1559061"/>
              <a:gd name="connsiteY1" fmla="*/ 701035 h 1561750"/>
              <a:gd name="connsiteX2" fmla="*/ 1559061 w 1559061"/>
              <a:gd name="connsiteY2" fmla="*/ 727623 h 1561750"/>
              <a:gd name="connsiteX3" fmla="*/ 1559061 w 1559061"/>
              <a:gd name="connsiteY3" fmla="*/ 834127 h 1561750"/>
              <a:gd name="connsiteX4" fmla="*/ 1557719 w 1559061"/>
              <a:gd name="connsiteY4" fmla="*/ 860715 h 1561750"/>
              <a:gd name="connsiteX5" fmla="*/ 780875 w 1559061"/>
              <a:gd name="connsiteY5" fmla="*/ 1561750 h 1561750"/>
              <a:gd name="connsiteX6" fmla="*/ 0 w 1559061"/>
              <a:gd name="connsiteY6" fmla="*/ 780875 h 1561750"/>
              <a:gd name="connsiteX7" fmla="*/ 780875 w 1559061"/>
              <a:gd name="connsiteY7" fmla="*/ 0 h 156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9061" h="1561750">
                <a:moveTo>
                  <a:pt x="780875" y="0"/>
                </a:moveTo>
                <a:cubicBezTo>
                  <a:pt x="1185186" y="0"/>
                  <a:pt x="1517730" y="307275"/>
                  <a:pt x="1557719" y="701035"/>
                </a:cubicBezTo>
                <a:lnTo>
                  <a:pt x="1559061" y="727623"/>
                </a:lnTo>
                <a:lnTo>
                  <a:pt x="1559061" y="834127"/>
                </a:lnTo>
                <a:lnTo>
                  <a:pt x="1557719" y="860715"/>
                </a:lnTo>
                <a:cubicBezTo>
                  <a:pt x="1517730" y="1254476"/>
                  <a:pt x="1185186" y="1561750"/>
                  <a:pt x="780875" y="1561750"/>
                </a:cubicBezTo>
                <a:cubicBezTo>
                  <a:pt x="349610" y="1561750"/>
                  <a:pt x="0" y="1212140"/>
                  <a:pt x="0" y="780875"/>
                </a:cubicBezTo>
                <a:cubicBezTo>
                  <a:pt x="0" y="349610"/>
                  <a:pt x="349610" y="0"/>
                  <a:pt x="78087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1A7C36-C4BE-F4AF-8029-620BD9DEA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6121" b="6121"/>
          <a:stretch/>
        </p:blipFill>
        <p:spPr bwMode="auto">
          <a:xfrm>
            <a:off x="8849292" y="857391"/>
            <a:ext cx="1559061" cy="1561750"/>
          </a:xfrm>
          <a:custGeom>
            <a:avLst/>
            <a:gdLst>
              <a:gd name="connsiteX0" fmla="*/ 780875 w 1559061"/>
              <a:gd name="connsiteY0" fmla="*/ 0 h 1561750"/>
              <a:gd name="connsiteX1" fmla="*/ 1557719 w 1559061"/>
              <a:gd name="connsiteY1" fmla="*/ 701035 h 1561750"/>
              <a:gd name="connsiteX2" fmla="*/ 1559061 w 1559061"/>
              <a:gd name="connsiteY2" fmla="*/ 727623 h 1561750"/>
              <a:gd name="connsiteX3" fmla="*/ 1559061 w 1559061"/>
              <a:gd name="connsiteY3" fmla="*/ 834127 h 1561750"/>
              <a:gd name="connsiteX4" fmla="*/ 1557719 w 1559061"/>
              <a:gd name="connsiteY4" fmla="*/ 860715 h 1561750"/>
              <a:gd name="connsiteX5" fmla="*/ 780875 w 1559061"/>
              <a:gd name="connsiteY5" fmla="*/ 1561750 h 1561750"/>
              <a:gd name="connsiteX6" fmla="*/ 0 w 1559061"/>
              <a:gd name="connsiteY6" fmla="*/ 780875 h 1561750"/>
              <a:gd name="connsiteX7" fmla="*/ 780875 w 1559061"/>
              <a:gd name="connsiteY7" fmla="*/ 0 h 156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9061" h="1561750">
                <a:moveTo>
                  <a:pt x="780875" y="0"/>
                </a:moveTo>
                <a:cubicBezTo>
                  <a:pt x="1185186" y="0"/>
                  <a:pt x="1517730" y="307275"/>
                  <a:pt x="1557719" y="701035"/>
                </a:cubicBezTo>
                <a:lnTo>
                  <a:pt x="1559061" y="727623"/>
                </a:lnTo>
                <a:lnTo>
                  <a:pt x="1559061" y="834127"/>
                </a:lnTo>
                <a:lnTo>
                  <a:pt x="1557719" y="860715"/>
                </a:lnTo>
                <a:cubicBezTo>
                  <a:pt x="1517730" y="1254476"/>
                  <a:pt x="1185186" y="1561750"/>
                  <a:pt x="780875" y="1561750"/>
                </a:cubicBezTo>
                <a:cubicBezTo>
                  <a:pt x="349610" y="1561750"/>
                  <a:pt x="0" y="1212140"/>
                  <a:pt x="0" y="780875"/>
                </a:cubicBezTo>
                <a:cubicBezTo>
                  <a:pt x="0" y="349610"/>
                  <a:pt x="349610" y="0"/>
                  <a:pt x="780875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8AE9196-C375-7403-E0B9-61FA71C78CBD}"/>
              </a:ext>
            </a:extLst>
          </p:cNvPr>
          <p:cNvSpPr/>
          <p:nvPr/>
        </p:nvSpPr>
        <p:spPr>
          <a:xfrm>
            <a:off x="7554108" y="4427505"/>
            <a:ext cx="3523888" cy="630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Great</a:t>
            </a:r>
            <a:r>
              <a:rPr lang="zh-CN" altLang="en-US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University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</a:t>
            </a:r>
            <a:r>
              <a:rPr lang="zh-CN" altLang="en-US" sz="1500" b="1" dirty="0">
                <a:latin typeface="Helvetica" pitchFamily="2" charset="0"/>
              </a:rPr>
              <a:t> </a:t>
            </a:r>
            <a:r>
              <a:rPr lang="en-US" altLang="zh-CN" sz="1500" b="1" dirty="0">
                <a:latin typeface="Helvetica" pitchFamily="2" charset="0"/>
              </a:rPr>
              <a:t>Hong</a:t>
            </a:r>
            <a:r>
              <a:rPr lang="zh-CN" altLang="en-US" sz="1500" b="1" dirty="0">
                <a:latin typeface="Helvetica" pitchFamily="2" charset="0"/>
              </a:rPr>
              <a:t> </a:t>
            </a:r>
            <a:r>
              <a:rPr lang="en-US" altLang="zh-CN" sz="1500" b="1" dirty="0">
                <a:latin typeface="Helvetica" pitchFamily="2" charset="0"/>
              </a:rPr>
              <a:t>Hong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7279F-E916-EFFA-B23C-28E44F7EF19F}"/>
              </a:ext>
            </a:extLst>
          </p:cNvPr>
          <p:cNvSpPr/>
          <p:nvPr/>
        </p:nvSpPr>
        <p:spPr>
          <a:xfrm>
            <a:off x="2239228" y="3217672"/>
            <a:ext cx="2599425" cy="3123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Jake</a:t>
            </a:r>
            <a:r>
              <a:rPr lang="zh-CN" altLang="en-US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1500" b="1" dirty="0">
                <a:solidFill>
                  <a:schemeClr val="bg1">
                    <a:lumMod val="65000"/>
                  </a:schemeClr>
                </a:solidFill>
                <a:latin typeface="Helvetica" pitchFamily="2" charset="0"/>
              </a:rPr>
              <a:t>lab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 Liang</a:t>
            </a:r>
            <a:r>
              <a:rPr lang="zh-CN" altLang="en-US" sz="1500" b="1" dirty="0">
                <a:latin typeface="Helvetica" pitchFamily="2" charset="0"/>
              </a:rPr>
              <a:t> </a:t>
            </a:r>
            <a:r>
              <a:rPr lang="en-US" altLang="zh-CN" sz="1500" b="1" dirty="0">
                <a:latin typeface="Helvetica" pitchFamily="2" charset="0"/>
              </a:rPr>
              <a:t>Hao</a:t>
            </a:r>
          </a:p>
          <a:p>
            <a:pPr>
              <a:lnSpc>
                <a:spcPct val="120000"/>
              </a:lnSpc>
            </a:pPr>
            <a:r>
              <a:rPr lang="en-US" altLang="zh-CN" sz="1500" b="1" dirty="0">
                <a:latin typeface="Helvetica" pitchFamily="2" charset="0"/>
              </a:rPr>
              <a:t>Dr. Yue Yue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Chen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Chen 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Brittany Brittany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Alireza Alireza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Sara Sara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Yael Yael 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Ariel Ariel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Dr. Kevin Kevin</a:t>
            </a:r>
          </a:p>
          <a:p>
            <a:pPr>
              <a:lnSpc>
                <a:spcPct val="120000"/>
              </a:lnSpc>
            </a:pPr>
            <a:r>
              <a:rPr lang="en-US" altLang="zh-CN" sz="1500" dirty="0">
                <a:latin typeface="Helvetica" pitchFamily="2" charset="0"/>
              </a:rPr>
              <a:t>Mr.</a:t>
            </a:r>
            <a:r>
              <a:rPr lang="zh-CN" altLang="en-US" sz="1500" dirty="0">
                <a:latin typeface="Helvetica" pitchFamily="2" charset="0"/>
              </a:rPr>
              <a:t> </a:t>
            </a:r>
            <a:r>
              <a:rPr lang="en-US" altLang="zh-CN" sz="1500" dirty="0">
                <a:latin typeface="Helvetica" pitchFamily="2" charset="0"/>
              </a:rPr>
              <a:t>Basil Basil</a:t>
            </a:r>
          </a:p>
        </p:txBody>
      </p:sp>
    </p:spTree>
    <p:extLst>
      <p:ext uri="{BB962C8B-B14F-4D97-AF65-F5344CB8AC3E}">
        <p14:creationId xmlns:p14="http://schemas.microsoft.com/office/powerpoint/2010/main" val="138350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3">
            <a:extLst>
              <a:ext uri="{FF2B5EF4-FFF2-40B4-BE49-F238E27FC236}">
                <a16:creationId xmlns:a16="http://schemas.microsoft.com/office/drawing/2014/main" id="{DE84B620-E6DB-3A4B-B873-9408464B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399DEC-5E74-A740-B0BA-9608321BB3F3}" type="slidenum">
              <a:rPr lang="en-US" smtClean="0"/>
              <a:t>8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6D0D54-97C1-E900-6696-05A9A1A3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F01CC7F-FCAA-761B-013F-2BF9EAD44A5B}"/>
              </a:ext>
            </a:extLst>
          </p:cNvPr>
          <p:cNvSpPr/>
          <p:nvPr/>
        </p:nvSpPr>
        <p:spPr>
          <a:xfrm>
            <a:off x="-18088" y="0"/>
            <a:ext cx="12228176" cy="6877664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6B9E35A-10B1-407E-2309-C99162F2C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931" y="6368901"/>
            <a:ext cx="276424" cy="27642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B0B4F5-D2A4-C9A8-FC7D-BE4130D242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4347" y="5969220"/>
            <a:ext cx="276424" cy="2764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9A6576F-2D0A-1E37-B158-1B8ADC0A3C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932" y="5969221"/>
            <a:ext cx="276423" cy="276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052185-9F04-91B4-D13B-8B527A6D8A96}"/>
              </a:ext>
            </a:extLst>
          </p:cNvPr>
          <p:cNvSpPr txBox="1"/>
          <p:nvPr/>
        </p:nvSpPr>
        <p:spPr>
          <a:xfrm>
            <a:off x="567354" y="5938155"/>
            <a:ext cx="26155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Helvetica" pitchFamily="2" charset="0"/>
              </a:rPr>
              <a:t>xiaotao.shen@ntu.edu.sg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FDC683-A95A-6BC2-6E52-5739B867AB64}"/>
              </a:ext>
            </a:extLst>
          </p:cNvPr>
          <p:cNvSpPr txBox="1"/>
          <p:nvPr/>
        </p:nvSpPr>
        <p:spPr>
          <a:xfrm>
            <a:off x="567355" y="6337836"/>
            <a:ext cx="21941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err="1">
                <a:solidFill>
                  <a:schemeClr val="bg1"/>
                </a:solidFill>
                <a:latin typeface="Helvetica" pitchFamily="2" charset="0"/>
              </a:rPr>
              <a:t>shen-lab.org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5EAB77-65EE-1570-CF54-8F6BC7D8BE9B}"/>
              </a:ext>
            </a:extLst>
          </p:cNvPr>
          <p:cNvSpPr txBox="1"/>
          <p:nvPr/>
        </p:nvSpPr>
        <p:spPr>
          <a:xfrm>
            <a:off x="3832831" y="5938155"/>
            <a:ext cx="176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elvetica" pitchFamily="2" charset="0"/>
              </a:rPr>
              <a:t>xiaotaoshen1990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20CB880-D602-7EB2-57A2-C47A4FDE47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7247" y="6351801"/>
            <a:ext cx="310625" cy="3106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E3048FD-F3F0-3CC7-09E6-CC137BE6D91E}"/>
              </a:ext>
            </a:extLst>
          </p:cNvPr>
          <p:cNvSpPr txBox="1"/>
          <p:nvPr/>
        </p:nvSpPr>
        <p:spPr>
          <a:xfrm>
            <a:off x="3832831" y="6337836"/>
            <a:ext cx="229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Helvetica" pitchFamily="2" charset="0"/>
              </a:rPr>
              <a:t>github.com/jaspershen</a:t>
            </a:r>
            <a:endParaRPr lang="en-US" sz="1600" dirty="0">
              <a:solidFill>
                <a:schemeClr val="bg1"/>
              </a:solidFill>
              <a:latin typeface="Helvetica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72C82F-CF57-19BF-5186-A42531926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2123" y="5923993"/>
            <a:ext cx="804602" cy="8100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375AFE-D7A2-D106-2A1E-74F49B9B66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204" y="6150912"/>
            <a:ext cx="1528051" cy="3562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EDF713-82AB-8CB7-ADA3-B775E02E90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67613" y="336978"/>
            <a:ext cx="1804336" cy="6471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FB4BBB-7D94-6CBE-223F-1B263CAAFC6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6124" y="1135015"/>
            <a:ext cx="1787315" cy="416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CFEA70-91F4-FFAD-0296-71678482C7F3}"/>
              </a:ext>
            </a:extLst>
          </p:cNvPr>
          <p:cNvSpPr txBox="1"/>
          <p:nvPr/>
        </p:nvSpPr>
        <p:spPr>
          <a:xfrm>
            <a:off x="0" y="336978"/>
            <a:ext cx="83588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Thank</a:t>
            </a:r>
            <a:r>
              <a:rPr lang="zh-CN" altLang="en-US" sz="44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You</a:t>
            </a:r>
            <a:r>
              <a:rPr lang="zh-CN" altLang="en-US" sz="44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For</a:t>
            </a:r>
            <a:r>
              <a:rPr lang="zh-CN" altLang="en-US" sz="44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Your</a:t>
            </a:r>
            <a:r>
              <a:rPr lang="zh-CN" altLang="en-US" sz="4400" b="1" dirty="0">
                <a:solidFill>
                  <a:schemeClr val="bg1"/>
                </a:solidFill>
                <a:latin typeface="Helvetica" pitchFamily="2" charset="0"/>
              </a:rPr>
              <a:t> </a:t>
            </a:r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Attention!</a:t>
            </a:r>
          </a:p>
          <a:p>
            <a:pPr algn="ctr"/>
            <a:r>
              <a:rPr lang="en-US" altLang="zh-CN" sz="4400" b="1" dirty="0">
                <a:solidFill>
                  <a:schemeClr val="bg1"/>
                </a:solidFill>
                <a:latin typeface="Helvetica" pitchFamily="2" charset="0"/>
              </a:rPr>
              <a:t>Q&amp;A</a:t>
            </a:r>
            <a:endParaRPr lang="en-US" sz="44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145F79-CC21-F530-96DB-70A6289EFA30}"/>
              </a:ext>
            </a:extLst>
          </p:cNvPr>
          <p:cNvSpPr txBox="1"/>
          <p:nvPr/>
        </p:nvSpPr>
        <p:spPr>
          <a:xfrm>
            <a:off x="128216" y="3075985"/>
            <a:ext cx="1206376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Xiaotao</a:t>
            </a:r>
            <a:r>
              <a:rPr lang="zh-CN" altLang="en-US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Shen,</a:t>
            </a:r>
            <a:r>
              <a:rPr lang="zh-CN" altLang="en-US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4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Ph.D.</a:t>
            </a:r>
          </a:p>
          <a:p>
            <a:endParaRPr lang="en-US" altLang="zh-CN" sz="2000" dirty="0">
              <a:solidFill>
                <a:schemeClr val="accent3">
                  <a:lumMod val="20000"/>
                  <a:lumOff val="80000"/>
                </a:schemeClr>
              </a:solidFill>
              <a:latin typeface="Helvetica" pitchFamily="2" charset="0"/>
            </a:endParaRP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Nanyang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Assistant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Professor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Lee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Kong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Chian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School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of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Medicine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&amp;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School of Chemistry, Chemical Engineering and Biotechnology</a:t>
            </a:r>
          </a:p>
          <a:p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Nanyang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Technological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University,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r>
              <a:rPr lang="en-US" altLang="zh-CN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Singapore</a:t>
            </a:r>
            <a:r>
              <a:rPr lang="zh-CN" altLang="en-US" sz="20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lvetica" pitchFamily="2" charset="0"/>
              </a:rPr>
              <a:t> </a:t>
            </a:r>
            <a:endParaRPr lang="en-US" altLang="zh-CN" sz="2000" dirty="0">
              <a:solidFill>
                <a:schemeClr val="accent3">
                  <a:lumMod val="20000"/>
                  <a:lumOff val="80000"/>
                </a:schemeClr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12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19572</TotalTime>
  <Words>422</Words>
  <Application>Microsoft Macintosh PowerPoint</Application>
  <PresentationFormat>Widescreen</PresentationFormat>
  <Paragraphs>88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Helvetica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Xiaotao Shen</dc:creator>
  <cp:lastModifiedBy>Shen Xiaotao</cp:lastModifiedBy>
  <cp:revision>2702</cp:revision>
  <dcterms:created xsi:type="dcterms:W3CDTF">2020-05-08T04:53:53Z</dcterms:created>
  <dcterms:modified xsi:type="dcterms:W3CDTF">2024-12-01T13:11:52Z</dcterms:modified>
</cp:coreProperties>
</file>